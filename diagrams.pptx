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E39248D-90C4-4A03-B9A2-D49543D761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CB5D8D-7AD2-4E9E-8843-58F2894EF1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67A56BA-4667-45AC-90F7-65934F283E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8CA04AC-E985-4F00-B6B8-D692DF3718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D51FB4-7AEA-4444-81CF-B892C35905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08162AE-95E1-4BB0-9454-2A9E7CD0BE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657280-230A-417E-9201-1C272F647D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FCF908B-C869-4AC8-A401-7DE67BE2FE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FAC1590-CEB4-4F8A-BCF5-2571276819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6CD7EB-59C7-4FD9-A413-54D7091820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ED56F3-DAB4-4395-A007-9BF764B01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1026360" y="212040"/>
            <a:ext cx="9326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8273E"/>
                </a:solidFill>
                <a:effectLst/>
                <a:uFillTx/>
                <a:latin typeface="Calibri"/>
              </a:rPr>
              <a:t>RGB Image → Metric Depth → Point Cloud + LaserScan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3"/>
          <p:cNvSpPr/>
          <p:nvPr/>
        </p:nvSpPr>
        <p:spPr>
          <a:xfrm>
            <a:off x="685800" y="877320"/>
            <a:ext cx="2788200" cy="65772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Camera Publisher 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RGB source / Arducam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685800" y="2205000"/>
            <a:ext cx="2788200" cy="145224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image_to_depth_node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ROS 2 Node / HTTP client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6"/>
          <p:cNvSpPr/>
          <p:nvPr/>
        </p:nvSpPr>
        <p:spPr>
          <a:xfrm>
            <a:off x="4251960" y="2205000"/>
            <a:ext cx="2788200" cy="749160"/>
          </a:xfrm>
          <a:prstGeom prst="roundRect">
            <a:avLst>
              <a:gd name="adj" fmla="val 16667"/>
            </a:avLst>
          </a:prstGeom>
          <a:solidFill>
            <a:srgbClr val="FFF7EB"/>
          </a:solidFill>
          <a:ln w="16510">
            <a:solidFill>
              <a:srgbClr val="E087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Depth Anything Server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GPU inference service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11"/>
          <p:cNvSpPr/>
          <p:nvPr/>
        </p:nvSpPr>
        <p:spPr>
          <a:xfrm>
            <a:off x="6400800" y="4111560"/>
            <a:ext cx="3885480" cy="657720"/>
          </a:xfrm>
          <a:prstGeom prst="roundRect">
            <a:avLst>
              <a:gd name="adj" fmla="val 16667"/>
            </a:avLst>
          </a:prstGeom>
          <a:solidFill>
            <a:srgbClr val="EFF9F3"/>
          </a:solidFill>
          <a:ln w="16510">
            <a:solidFill>
              <a:srgbClr val="3D91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depth_image_proc::PointCloudXyzNode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12"/>
          <p:cNvSpPr/>
          <p:nvPr/>
        </p:nvSpPr>
        <p:spPr>
          <a:xfrm>
            <a:off x="7553520" y="5029200"/>
            <a:ext cx="1554120" cy="657720"/>
          </a:xfrm>
          <a:prstGeom prst="roundRect">
            <a:avLst>
              <a:gd name="adj" fmla="val 16667"/>
            </a:avLst>
          </a:prstGeom>
          <a:solidFill>
            <a:srgbClr val="18273E"/>
          </a:solidFill>
          <a:ln w="16510">
            <a:solidFill>
              <a:srgbClr val="1827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PointCloud2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onnector 13"/>
          <p:cNvCxnSpPr/>
          <p:nvPr/>
        </p:nvCxnSpPr>
        <p:spPr>
          <a:xfrm>
            <a:off x="2080080" y="1535400"/>
            <a:ext cx="720" cy="348480"/>
          </a:xfrm>
          <a:prstGeom prst="straightConnector1">
            <a:avLst/>
          </a:prstGeom>
          <a:ln w="0">
            <a:solidFill>
              <a:srgbClr val="2D70B5"/>
            </a:solidFill>
          </a:ln>
        </p:spPr>
      </p:cxnSp>
      <p:cxnSp>
        <p:nvCxnSpPr>
          <p:cNvPr id="68" name="Connector 14"/>
          <p:cNvCxnSpPr/>
          <p:nvPr/>
        </p:nvCxnSpPr>
        <p:spPr>
          <a:xfrm>
            <a:off x="2080080" y="1857240"/>
            <a:ext cx="720" cy="348480"/>
          </a:xfrm>
          <a:prstGeom prst="straightConnector1">
            <a:avLst/>
          </a:prstGeom>
          <a:ln w="0">
            <a:solidFill>
              <a:srgbClr val="2D70B5"/>
            </a:solidFill>
            <a:tailEnd len="med" type="triangle" w="med"/>
          </a:ln>
        </p:spPr>
      </p:cxnSp>
      <p:cxnSp>
        <p:nvCxnSpPr>
          <p:cNvPr id="69" name="Connector 15"/>
          <p:cNvCxnSpPr/>
          <p:nvPr/>
        </p:nvCxnSpPr>
        <p:spPr>
          <a:xfrm>
            <a:off x="3474720" y="2579760"/>
            <a:ext cx="777960" cy="720"/>
          </a:xfrm>
          <a:prstGeom prst="straightConnector1">
            <a:avLst/>
          </a:prstGeom>
          <a:ln w="0">
            <a:solidFill>
              <a:srgbClr val="E0872D"/>
            </a:solidFill>
            <a:tailEnd len="med" type="triangle" w="med"/>
          </a:ln>
        </p:spPr>
      </p:cxnSp>
      <p:sp>
        <p:nvSpPr>
          <p:cNvPr id="70" name="TextBox 16"/>
          <p:cNvSpPr/>
          <p:nvPr/>
        </p:nvSpPr>
        <p:spPr>
          <a:xfrm>
            <a:off x="3456360" y="2287440"/>
            <a:ext cx="822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E0872D"/>
                </a:solidFill>
                <a:effectLst/>
                <a:uFillTx/>
                <a:latin typeface="Calibri"/>
              </a:rPr>
              <a:t>HTTP 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7"/>
          <p:cNvCxnSpPr/>
          <p:nvPr/>
        </p:nvCxnSpPr>
        <p:spPr>
          <a:xfrm>
            <a:off x="5646240" y="2990520"/>
            <a:ext cx="1800" cy="223560"/>
          </a:xfrm>
          <a:prstGeom prst="straightConnector1">
            <a:avLst/>
          </a:prstGeom>
          <a:ln w="0">
            <a:solidFill>
              <a:srgbClr val="E0872D"/>
            </a:solidFill>
          </a:ln>
        </p:spPr>
      </p:cxnSp>
      <p:cxnSp>
        <p:nvCxnSpPr>
          <p:cNvPr id="72" name="Connector 18"/>
          <p:cNvCxnSpPr>
            <a:stCxn id="71" idx="1"/>
          </p:cNvCxnSpPr>
          <p:nvPr/>
        </p:nvCxnSpPr>
        <p:spPr>
          <a:xfrm flipH="1">
            <a:off x="3474720" y="3213720"/>
            <a:ext cx="2173320" cy="15480"/>
          </a:xfrm>
          <a:prstGeom prst="straightConnector1">
            <a:avLst/>
          </a:prstGeom>
          <a:ln w="0">
            <a:solidFill>
              <a:srgbClr val="E0872D"/>
            </a:solidFill>
            <a:tailEnd len="med" type="triangle" w="med"/>
          </a:ln>
        </p:spPr>
      </p:cxnSp>
      <p:sp>
        <p:nvSpPr>
          <p:cNvPr id="73" name="TextBox 19"/>
          <p:cNvSpPr/>
          <p:nvPr/>
        </p:nvSpPr>
        <p:spPr>
          <a:xfrm>
            <a:off x="3644640" y="2945160"/>
            <a:ext cx="46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E0872D"/>
                </a:solidFill>
                <a:effectLst/>
                <a:uFillTx/>
                <a:latin typeface="Calibri"/>
              </a:rPr>
              <a:t>HTTP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Connector 20"/>
          <p:cNvCxnSpPr/>
          <p:nvPr/>
        </p:nvCxnSpPr>
        <p:spPr>
          <a:xfrm>
            <a:off x="2070720" y="4452480"/>
            <a:ext cx="4344120" cy="720"/>
          </a:xfrm>
          <a:prstGeom prst="straightConnector1">
            <a:avLst/>
          </a:prstGeom>
          <a:ln w="22860">
            <a:solidFill>
              <a:srgbClr val="3D915F"/>
            </a:solidFill>
            <a:round/>
            <a:tailEnd len="med" type="triangle" w="med"/>
          </a:ln>
        </p:spPr>
      </p:cxnSp>
      <p:cxnSp>
        <p:nvCxnSpPr>
          <p:cNvPr id="75" name="Connector 21"/>
          <p:cNvCxnSpPr>
            <a:stCxn id="76" idx="3"/>
          </p:cNvCxnSpPr>
          <p:nvPr/>
        </p:nvCxnSpPr>
        <p:spPr>
          <a:xfrm>
            <a:off x="6857640" y="1209960"/>
            <a:ext cx="1508040" cy="14400"/>
          </a:xfrm>
          <a:prstGeom prst="straightConnector1">
            <a:avLst/>
          </a:prstGeom>
          <a:ln w="22860">
            <a:solidFill>
              <a:srgbClr val="3D915F"/>
            </a:solidFill>
            <a:round/>
          </a:ln>
        </p:spPr>
      </p:cxnSp>
      <p:cxnSp>
        <p:nvCxnSpPr>
          <p:cNvPr id="77" name="Connector 23"/>
          <p:cNvCxnSpPr>
            <a:endCxn id="65" idx="0"/>
          </p:cNvCxnSpPr>
          <p:nvPr/>
        </p:nvCxnSpPr>
        <p:spPr>
          <a:xfrm flipH="1">
            <a:off x="8343720" y="1223640"/>
            <a:ext cx="21960" cy="2888280"/>
          </a:xfrm>
          <a:prstGeom prst="straightConnector1">
            <a:avLst/>
          </a:prstGeom>
          <a:ln w="19050">
            <a:solidFill>
              <a:srgbClr val="3D915F"/>
            </a:solidFill>
            <a:round/>
            <a:tailEnd len="med" type="triangle" w="med"/>
          </a:ln>
        </p:spPr>
      </p:cxnSp>
      <p:cxnSp>
        <p:nvCxnSpPr>
          <p:cNvPr id="78" name="Connector 24"/>
          <p:cNvCxnSpPr>
            <a:stCxn id="65" idx="2"/>
            <a:endCxn id="66" idx="0"/>
          </p:cNvCxnSpPr>
          <p:nvPr/>
        </p:nvCxnSpPr>
        <p:spPr>
          <a:xfrm flipH="1">
            <a:off x="8330760" y="4769280"/>
            <a:ext cx="13320" cy="260280"/>
          </a:xfrm>
          <a:prstGeom prst="straightConnector1">
            <a:avLst/>
          </a:prstGeom>
          <a:ln w="27940">
            <a:solidFill>
              <a:srgbClr val="18273E"/>
            </a:solidFill>
            <a:round/>
            <a:tailEnd len="med" type="triangle" w="med"/>
          </a:ln>
        </p:spPr>
      </p:cxnSp>
      <p:sp>
        <p:nvSpPr>
          <p:cNvPr id="79" name="TextBox 25"/>
          <p:cNvSpPr/>
          <p:nvPr/>
        </p:nvSpPr>
        <p:spPr>
          <a:xfrm>
            <a:off x="2442960" y="4172760"/>
            <a:ext cx="2513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D70B5"/>
                </a:solidFill>
                <a:effectLst/>
                <a:uFillTx/>
                <a:latin typeface="Calibri"/>
              </a:rPr>
              <a:t>Depth image published in ROS 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6"/>
          <p:cNvSpPr/>
          <p:nvPr/>
        </p:nvSpPr>
        <p:spPr>
          <a:xfrm>
            <a:off x="5751360" y="3865680"/>
            <a:ext cx="2521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D915F"/>
                </a:solidFill>
                <a:effectLst/>
                <a:uFillTx/>
                <a:latin typeface="Calibri"/>
              </a:rPr>
              <a:t>Metric depth image + calibrated intrinsics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178000" y="1655640"/>
            <a:ext cx="195408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sensor_msgs/Image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086600" y="877320"/>
            <a:ext cx="243648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sensor_msgs/CameraInfo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248000" y="3056400"/>
            <a:ext cx="27374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16-bit PNG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 depth • millimeters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" name="Connector 1"/>
          <p:cNvCxnSpPr>
            <a:endCxn id="74" idx="2"/>
          </p:cNvCxnSpPr>
          <p:nvPr/>
        </p:nvCxnSpPr>
        <p:spPr>
          <a:xfrm flipH="1">
            <a:off x="2070720" y="3637080"/>
            <a:ext cx="10080" cy="815760"/>
          </a:xfrm>
          <a:prstGeom prst="straightConnector1">
            <a:avLst/>
          </a:prstGeom>
          <a:ln w="0">
            <a:solidFill>
              <a:srgbClr val="3D915F"/>
            </a:solidFill>
          </a:ln>
        </p:spPr>
      </p:cxnSp>
      <p:sp>
        <p:nvSpPr>
          <p:cNvPr id="85" name=""/>
          <p:cNvSpPr/>
          <p:nvPr/>
        </p:nvSpPr>
        <p:spPr>
          <a:xfrm>
            <a:off x="2743200" y="4428360"/>
            <a:ext cx="19540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sensor_msgs/Image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encoding: 16UC1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"/>
          <p:cNvSpPr/>
          <p:nvPr/>
        </p:nvSpPr>
        <p:spPr>
          <a:xfrm>
            <a:off x="676440" y="5029200"/>
            <a:ext cx="2788200" cy="68544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depth_to_laserscan_node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Connector 2"/>
          <p:cNvCxnSpPr>
            <a:endCxn id="86" idx="0"/>
          </p:cNvCxnSpPr>
          <p:nvPr/>
        </p:nvCxnSpPr>
        <p:spPr>
          <a:xfrm>
            <a:off x="2070720" y="4442400"/>
            <a:ext cx="360" cy="587160"/>
          </a:xfrm>
          <a:prstGeom prst="straightConnector1">
            <a:avLst/>
          </a:prstGeom>
          <a:ln w="0">
            <a:solidFill>
              <a:srgbClr val="3D915F"/>
            </a:solidFill>
            <a:tailEnd len="med" type="triangle" w="med"/>
          </a:ln>
        </p:spPr>
      </p:cxnSp>
      <p:sp>
        <p:nvSpPr>
          <p:cNvPr id="88" name="Rounded Rectangle 2"/>
          <p:cNvSpPr/>
          <p:nvPr/>
        </p:nvSpPr>
        <p:spPr>
          <a:xfrm>
            <a:off x="5257800" y="5056920"/>
            <a:ext cx="1554120" cy="657720"/>
          </a:xfrm>
          <a:prstGeom prst="roundRect">
            <a:avLst>
              <a:gd name="adj" fmla="val 16667"/>
            </a:avLst>
          </a:prstGeom>
          <a:solidFill>
            <a:srgbClr val="18273E"/>
          </a:solidFill>
          <a:ln w="16510">
            <a:solidFill>
              <a:srgbClr val="1827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LaserScan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Connector 3"/>
          <p:cNvCxnSpPr>
            <a:stCxn id="86" idx="3"/>
            <a:endCxn id="88" idx="1"/>
          </p:cNvCxnSpPr>
          <p:nvPr/>
        </p:nvCxnSpPr>
        <p:spPr>
          <a:xfrm>
            <a:off x="3464640" y="5371920"/>
            <a:ext cx="1793520" cy="14400"/>
          </a:xfrm>
          <a:prstGeom prst="straightConnector1">
            <a:avLst/>
          </a:prstGeom>
          <a:ln w="27940">
            <a:solidFill>
              <a:srgbClr val="18273E"/>
            </a:solidFill>
            <a:round/>
            <a:tailEnd len="med" type="triangle" w="med"/>
          </a:ln>
        </p:spPr>
      </p:cxnSp>
      <p:sp>
        <p:nvSpPr>
          <p:cNvPr id="76" name="Rounded Rectangle 15"/>
          <p:cNvSpPr/>
          <p:nvPr/>
        </p:nvSpPr>
        <p:spPr>
          <a:xfrm>
            <a:off x="4344840" y="855720"/>
            <a:ext cx="2512800" cy="70812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fake_camera_info_node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25"/>
          <p:cNvCxnSpPr>
            <a:endCxn id="86" idx="2"/>
          </p:cNvCxnSpPr>
          <p:nvPr/>
        </p:nvCxnSpPr>
        <p:spPr>
          <a:xfrm flipV="1">
            <a:off x="2057400" y="5714640"/>
            <a:ext cx="13680" cy="441360"/>
          </a:xfrm>
          <a:prstGeom prst="straightConnector1">
            <a:avLst/>
          </a:prstGeom>
          <a:ln w="22860">
            <a:solidFill>
              <a:srgbClr val="3D915F"/>
            </a:solidFill>
            <a:round/>
            <a:tailEnd len="med" type="triangle" w="med"/>
          </a:ln>
        </p:spPr>
      </p:cxnSp>
      <p:sp>
        <p:nvSpPr>
          <p:cNvPr id="91" name=""/>
          <p:cNvSpPr/>
          <p:nvPr/>
        </p:nvSpPr>
        <p:spPr>
          <a:xfrm>
            <a:off x="2057400" y="5943600"/>
            <a:ext cx="243648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sensor_msgs/CameraInfo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114800" y="1828800"/>
            <a:ext cx="3429000" cy="2036880"/>
          </a:xfrm>
          <a:prstGeom prst="rect">
            <a:avLst/>
          </a:prstGeom>
          <a:noFill/>
          <a:ln w="0">
            <a:solidFill>
              <a:srgbClr val="3465A4"/>
            </a:solidFill>
            <a:prstDash val="dash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5029200" y="1828800"/>
            <a:ext cx="12621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D915F"/>
                </a:solidFill>
                <a:effectLst/>
                <a:uFillTx/>
                <a:latin typeface="Calibri"/>
              </a:rPr>
              <a:t>Python venv_depth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/>
          <p:nvPr/>
        </p:nvSpPr>
        <p:spPr>
          <a:xfrm>
            <a:off x="1026360" y="212040"/>
            <a:ext cx="695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8273E"/>
                </a:solidFill>
                <a:effectLst/>
                <a:uFillTx/>
                <a:latin typeface="Calibri"/>
              </a:rPr>
              <a:t>RGB Image → YOLO model → Detections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4"/>
          <p:cNvSpPr/>
          <p:nvPr/>
        </p:nvSpPr>
        <p:spPr>
          <a:xfrm>
            <a:off x="685800" y="877320"/>
            <a:ext cx="2788200" cy="65772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Camera Publisher 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RGB source / Arducam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7"/>
          <p:cNvSpPr/>
          <p:nvPr/>
        </p:nvSpPr>
        <p:spPr>
          <a:xfrm>
            <a:off x="565200" y="2781000"/>
            <a:ext cx="3016800" cy="145224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image_to_depth_yolo_node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ROS 2 Node / HTTP client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8"/>
          <p:cNvSpPr/>
          <p:nvPr/>
        </p:nvSpPr>
        <p:spPr>
          <a:xfrm>
            <a:off x="4395960" y="2781000"/>
            <a:ext cx="2788200" cy="749160"/>
          </a:xfrm>
          <a:prstGeom prst="roundRect">
            <a:avLst>
              <a:gd name="adj" fmla="val 16667"/>
            </a:avLst>
          </a:prstGeom>
          <a:solidFill>
            <a:srgbClr val="FFF7EB"/>
          </a:solidFill>
          <a:ln w="16510">
            <a:solidFill>
              <a:srgbClr val="E087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YOLO HTTP Server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050" b="0" u="none" strike="noStrike">
                <a:solidFill>
                  <a:srgbClr val="687482"/>
                </a:solidFill>
                <a:effectLst/>
                <a:uFillTx/>
                <a:latin typeface="Calibri"/>
              </a:rPr>
              <a:t>GPU inference service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Connector 4"/>
          <p:cNvCxnSpPr/>
          <p:nvPr/>
        </p:nvCxnSpPr>
        <p:spPr>
          <a:xfrm>
            <a:off x="2080080" y="1535400"/>
            <a:ext cx="720" cy="348480"/>
          </a:xfrm>
          <a:prstGeom prst="straightConnector1">
            <a:avLst/>
          </a:prstGeom>
          <a:ln w="0">
            <a:solidFill>
              <a:srgbClr val="2D70B5"/>
            </a:solidFill>
          </a:ln>
        </p:spPr>
      </p:cxnSp>
      <p:cxnSp>
        <p:nvCxnSpPr>
          <p:cNvPr id="99" name="Connector 5"/>
          <p:cNvCxnSpPr>
            <a:endCxn id="96" idx="0"/>
          </p:cNvCxnSpPr>
          <p:nvPr/>
        </p:nvCxnSpPr>
        <p:spPr>
          <a:xfrm flipH="1">
            <a:off x="2073600" y="1857240"/>
            <a:ext cx="7200" cy="924120"/>
          </a:xfrm>
          <a:prstGeom prst="straightConnector1">
            <a:avLst/>
          </a:prstGeom>
          <a:ln w="0">
            <a:solidFill>
              <a:srgbClr val="2D70B5"/>
            </a:solidFill>
            <a:tailEnd len="med" type="triangle" w="med"/>
          </a:ln>
        </p:spPr>
      </p:cxnSp>
      <p:cxnSp>
        <p:nvCxnSpPr>
          <p:cNvPr id="100" name="Connector 6"/>
          <p:cNvCxnSpPr/>
          <p:nvPr/>
        </p:nvCxnSpPr>
        <p:spPr>
          <a:xfrm flipV="1">
            <a:off x="3619440" y="3155760"/>
            <a:ext cx="777240" cy="7560"/>
          </a:xfrm>
          <a:prstGeom prst="straightConnector1">
            <a:avLst/>
          </a:prstGeom>
          <a:ln w="0">
            <a:solidFill>
              <a:srgbClr val="E0872D"/>
            </a:solidFill>
            <a:tailEnd len="med" type="triangle" w="med"/>
          </a:ln>
        </p:spPr>
      </p:cxnSp>
      <p:sp>
        <p:nvSpPr>
          <p:cNvPr id="101" name="TextBox 3"/>
          <p:cNvSpPr/>
          <p:nvPr/>
        </p:nvSpPr>
        <p:spPr>
          <a:xfrm>
            <a:off x="3586320" y="2863440"/>
            <a:ext cx="778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E0872D"/>
                </a:solidFill>
                <a:effectLst/>
                <a:uFillTx/>
                <a:latin typeface="Calibri"/>
              </a:rPr>
              <a:t>HTTP POST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Connector 7"/>
          <p:cNvCxnSpPr/>
          <p:nvPr/>
        </p:nvCxnSpPr>
        <p:spPr>
          <a:xfrm>
            <a:off x="5646240" y="3566520"/>
            <a:ext cx="1800" cy="223560"/>
          </a:xfrm>
          <a:prstGeom prst="straightConnector1">
            <a:avLst/>
          </a:prstGeom>
          <a:ln w="0">
            <a:solidFill>
              <a:srgbClr val="E0872D"/>
            </a:solidFill>
          </a:ln>
        </p:spPr>
      </p:cxnSp>
      <p:cxnSp>
        <p:nvCxnSpPr>
          <p:cNvPr id="103" name="Connector 8"/>
          <p:cNvCxnSpPr>
            <a:stCxn id="102" idx="1"/>
          </p:cNvCxnSpPr>
          <p:nvPr/>
        </p:nvCxnSpPr>
        <p:spPr>
          <a:xfrm flipH="1">
            <a:off x="3619440" y="3789720"/>
            <a:ext cx="2028600" cy="8640"/>
          </a:xfrm>
          <a:prstGeom prst="straightConnector1">
            <a:avLst/>
          </a:prstGeom>
          <a:ln w="0">
            <a:solidFill>
              <a:srgbClr val="E0872D"/>
            </a:solidFill>
            <a:tailEnd len="med" type="triangle" w="med"/>
          </a:ln>
        </p:spPr>
      </p:cxnSp>
      <p:sp>
        <p:nvSpPr>
          <p:cNvPr id="104" name="TextBox 4"/>
          <p:cNvSpPr/>
          <p:nvPr/>
        </p:nvSpPr>
        <p:spPr>
          <a:xfrm>
            <a:off x="3860640" y="3557160"/>
            <a:ext cx="464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E0872D"/>
                </a:solidFill>
                <a:effectLst/>
                <a:uFillTx/>
                <a:latin typeface="Calibri"/>
              </a:rPr>
              <a:t>HTTP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2170080" y="4352760"/>
            <a:ext cx="190944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D70B5"/>
                </a:solidFill>
                <a:effectLst/>
                <a:uFillTx/>
                <a:latin typeface="Calibri"/>
              </a:rPr>
              <a:t>Detections published in ROS 2: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950" b="0" u="none" strike="noStrike">
                <a:solidFill>
                  <a:srgbClr val="2D70B5"/>
                </a:solidFill>
                <a:effectLst/>
                <a:uFillTx/>
                <a:latin typeface="Calibri"/>
              </a:rPr>
              <a:t>camera_3d/detections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106000" y="1583640"/>
            <a:ext cx="2622240" cy="8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sensor_msgs/Image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sensor_msgs/CameraInfo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343400" y="3776400"/>
            <a:ext cx="2285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JSON: Detections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16"/>
          <p:cNvCxnSpPr/>
          <p:nvPr/>
        </p:nvCxnSpPr>
        <p:spPr>
          <a:xfrm flipH="1">
            <a:off x="2070720" y="4213080"/>
            <a:ext cx="10080" cy="816120"/>
          </a:xfrm>
          <a:prstGeom prst="straightConnector1">
            <a:avLst/>
          </a:prstGeom>
          <a:ln w="0">
            <a:solidFill>
              <a:srgbClr val="3D915F"/>
            </a:solidFill>
          </a:ln>
        </p:spPr>
      </p:cxnSp>
      <p:cxnSp>
        <p:nvCxnSpPr>
          <p:cNvPr id="109" name="Connector 19"/>
          <p:cNvCxnSpPr>
            <a:endCxn id="108" idx="3"/>
          </p:cNvCxnSpPr>
          <p:nvPr/>
        </p:nvCxnSpPr>
        <p:spPr>
          <a:xfrm flipV="1">
            <a:off x="2070720" y="4620960"/>
            <a:ext cx="5040" cy="397800"/>
          </a:xfrm>
          <a:prstGeom prst="straightConnector1">
            <a:avLst/>
          </a:prstGeom>
          <a:ln w="0">
            <a:solidFill>
              <a:srgbClr val="3D915F"/>
            </a:solidFill>
            <a:tailEnd len="med" type="triangle" w="med"/>
          </a:ln>
        </p:spPr>
      </p:cxnSp>
      <p:sp>
        <p:nvSpPr>
          <p:cNvPr id="110" name="Rounded Rectangle 14"/>
          <p:cNvSpPr/>
          <p:nvPr/>
        </p:nvSpPr>
        <p:spPr>
          <a:xfrm>
            <a:off x="469800" y="5020920"/>
            <a:ext cx="3212640" cy="657720"/>
          </a:xfrm>
          <a:prstGeom prst="roundRect">
            <a:avLst>
              <a:gd name="adj" fmla="val 16667"/>
            </a:avLst>
          </a:prstGeom>
          <a:solidFill>
            <a:srgbClr val="18273E"/>
          </a:solidFill>
          <a:ln w="16510">
            <a:solidFill>
              <a:srgbClr val="1827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Detection3DArray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9"/>
          <p:cNvSpPr/>
          <p:nvPr/>
        </p:nvSpPr>
        <p:spPr>
          <a:xfrm>
            <a:off x="4345200" y="855720"/>
            <a:ext cx="2512800" cy="708120"/>
          </a:xfrm>
          <a:prstGeom prst="roundRect">
            <a:avLst>
              <a:gd name="adj" fmla="val 16667"/>
            </a:avLst>
          </a:prstGeom>
          <a:solidFill>
            <a:srgbClr val="EFF5FC"/>
          </a:solidFill>
          <a:ln w="16510">
            <a:solidFill>
              <a:srgbClr val="2D70B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73080" rIns="128160" bIns="54720" anchor="ctr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2E3640"/>
                </a:solidFill>
                <a:effectLst/>
                <a:uFillTx/>
                <a:latin typeface="Calibri"/>
              </a:rPr>
              <a:t>fake_camera_info_node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nector 9"/>
          <p:cNvCxnSpPr>
            <a:stCxn id="111" idx="2"/>
          </p:cNvCxnSpPr>
          <p:nvPr/>
        </p:nvCxnSpPr>
        <p:spPr>
          <a:xfrm flipH="1">
            <a:off x="3154320" y="1563840"/>
            <a:ext cx="2447640" cy="1217880"/>
          </a:xfrm>
          <a:prstGeom prst="straightConnector1">
            <a:avLst/>
          </a:prstGeom>
          <a:ln w="0">
            <a:solidFill>
              <a:srgbClr val="2D70B5"/>
            </a:solidFill>
            <a:tailEnd len="med" type="triangle" w="med"/>
          </a:ln>
        </p:spPr>
      </p:cxnSp>
      <p:sp>
        <p:nvSpPr>
          <p:cNvPr id="113" name=""/>
          <p:cNvSpPr/>
          <p:nvPr/>
        </p:nvSpPr>
        <p:spPr>
          <a:xfrm>
            <a:off x="4114800" y="2400480"/>
            <a:ext cx="3429000" cy="2057400"/>
          </a:xfrm>
          <a:prstGeom prst="rect">
            <a:avLst/>
          </a:prstGeom>
          <a:noFill/>
          <a:ln w="0">
            <a:solidFill>
              <a:srgbClr val="3465A4"/>
            </a:solidFill>
            <a:prstDash val="dash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5029200" y="2400480"/>
            <a:ext cx="12621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D915F"/>
                </a:solidFill>
                <a:effectLst/>
                <a:uFillTx/>
                <a:latin typeface="Calibri"/>
              </a:rPr>
              <a:t>Python venv_depth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2026-09-30T22:34:03Z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